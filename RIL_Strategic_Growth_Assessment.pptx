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94" d="100"/>
          <a:sy n="94" d="100"/>
        </p:scale>
        <p:origin x="8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3DCFE-6D45-4D1F-7A56-2B5A8C8DD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7A4AC7-7927-05EF-073B-1BFC798EE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CD14D-AE3C-503F-70C9-DB9F1F47F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A76-58A3-48EC-8754-7CEF9EC94B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0B53D-848B-570F-36E6-12F9C94B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AE866-F921-90F5-D3FA-7C9E613F3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2DA6-15A4-4506-A63B-B106123D6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821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369A2-972D-A13E-76D1-CD9354BC1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C43F-22A8-2AE8-04B8-ABC5C5C16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A9B15-70FF-A676-F625-933321EF8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A76-58A3-48EC-8754-7CEF9EC94B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411CC-1E27-48EA-2033-E1F5B2C53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7E44C-A372-162D-CE77-D9DCAFB1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2DA6-15A4-4506-A63B-B106123D6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546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6AA1-5EC2-3B28-B2AD-45FE8064F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876B6-DFB4-2D71-AB27-BC5E272DA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5F236-EFD9-5AC7-BCFC-9DA678828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A76-58A3-48EC-8754-7CEF9EC94B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508CD-9B2A-5BD2-342F-8EEE8A305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B8F52-265E-1866-39D8-C1FC0074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2DA6-15A4-4506-A63B-B106123D6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832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AE3AB-B242-5C9F-E57F-CE0318375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F59F5-3555-AFD6-025F-D4C7BDAFA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03796-8A49-C3CA-ED7E-B9B510FB4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C3059-DE70-DDC0-AFBA-237AFA237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A76-58A3-48EC-8754-7CEF9EC94B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DBA40-8BEC-9C47-3738-87F2C796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04965-F207-A890-0DAC-FB3AF09D5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2DA6-15A4-4506-A63B-B106123D6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050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C0E88-6936-B22E-8713-2DCA6DBF1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DEC40-C550-EFB1-5F72-FDF7DE766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1BC32-39A3-D1BE-BDC1-8BE2312E5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06C16-2396-82FB-F39F-BB87E736E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F45931-BAA4-BF9A-22EB-A803F8C27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F77FFA-5CFA-8DC6-D64A-203190795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A76-58A3-48EC-8754-7CEF9EC94B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B17ED7-C596-B8F6-3685-3DA13703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556C78-9B15-0DA1-CED8-77E252E75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2DA6-15A4-4506-A63B-B106123D6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77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1CBB0-F17C-BCC3-22D1-C40C93B50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9939A-DAE8-2D09-BB72-50283B1B0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A76-58A3-48EC-8754-7CEF9EC94B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425F6-B6D3-EE07-AF7C-BC589975D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834F1-1A47-2E43-16BF-D168FD53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2DA6-15A4-4506-A63B-B106123D6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58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DEBA5B-E6A3-40C2-1962-F06E20531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A76-58A3-48EC-8754-7CEF9EC94B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634AE-1B97-887A-3D9D-D7BFBF571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A3B11-0B1F-5007-5263-733F2D5B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2DA6-15A4-4506-A63B-B106123D6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292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A6418-7E37-6F46-6F75-F86F6A46D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EC5C2-4052-92DE-7BE2-0034492A3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3E3E61-7173-87F6-9D72-F6B6D8D70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5CF56-BC48-1EE1-87C7-9CC4C778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A76-58A3-48EC-8754-7CEF9EC94B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A03DD-6229-E48F-496D-1D064CF5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B6D92-6B0B-C38A-0344-52D5E3537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2DA6-15A4-4506-A63B-B106123D6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93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0AE6F-5DEC-7A0C-5725-688EF04F8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267E35-5DC1-D01C-12B2-6FD539203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BD095-20AA-4B1C-F091-4956369DB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F795D-BA98-95CF-52A9-0886C957C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A76-58A3-48EC-8754-7CEF9EC94B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A4584-EC0E-8AED-8AA1-869A16FC5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7C31F-A11E-E0AB-9248-D1F9E3B22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2DA6-15A4-4506-A63B-B106123D6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416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2EF17-7621-859A-49B5-10D344E4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89478-2D79-820E-5A75-C985BF414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25044-9423-A973-7951-304F7BC5C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A76-58A3-48EC-8754-7CEF9EC94B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FF239-9000-545D-D5DF-23C9995ED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A59AF-A718-FDE6-0201-C064454A5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2DA6-15A4-4506-A63B-B106123D6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62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FA1397-4DA9-6520-6A63-BB5BCB3A6E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6080A-6B2C-1D62-67AD-71F44BCFF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C666F-F6AF-C2D5-7605-5F6730EE5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D8A76-58A3-48EC-8754-7CEF9EC94B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17522-1D5B-9B1B-318B-B3D254E1E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44792-12DB-8B6C-E7AF-DDCE73B3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02DA6-15A4-4506-A63B-B106123D6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630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0A566-A20F-629A-AED4-E3DC2F6E3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754F0-634D-68E8-0353-5199FE1A5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049AC-FDBE-D601-549E-B8321464E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D8A76-58A3-48EC-8754-7CEF9EC94B03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13E37-BF41-A301-E9B5-331F1FB05B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E9003-5BD5-B53A-5A23-DB94B80E6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02DA6-15A4-4506-A63B-B106123D6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98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6823B-49C7-7D2C-D63A-898357D22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69472"/>
            <a:ext cx="9065079" cy="2057400"/>
          </a:xfrm>
        </p:spPr>
        <p:txBody>
          <a:bodyPr>
            <a:normAutofit fontScale="90000"/>
          </a:bodyPr>
          <a:lstStyle/>
          <a:p>
            <a:r>
              <a:rPr lang="en-US" dirty="0"/>
              <a:t>Strategic Growth Assessment of Reliance Industries Limited.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C886D4-FF2A-A459-446C-7C1BB03CD1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7735" y="3118756"/>
            <a:ext cx="9236529" cy="2302329"/>
          </a:xfrm>
        </p:spPr>
        <p:txBody>
          <a:bodyPr>
            <a:noAutofit/>
          </a:bodyPr>
          <a:lstStyle/>
          <a:p>
            <a:r>
              <a:rPr lang="en-IN" sz="2800" dirty="0"/>
              <a:t>A Strategic Business and Investment Analysis</a:t>
            </a:r>
            <a:endParaRPr lang="en-US" sz="2800" dirty="0"/>
          </a:p>
          <a:p>
            <a:r>
              <a:rPr lang="en-IN" sz="2800" dirty="0" err="1"/>
              <a:t>Chawan</a:t>
            </a:r>
            <a:r>
              <a:rPr lang="en-IN" sz="2800" dirty="0"/>
              <a:t> </a:t>
            </a:r>
            <a:r>
              <a:rPr lang="en-IN" sz="2800" dirty="0" err="1"/>
              <a:t>Gangothri</a:t>
            </a:r>
            <a:br>
              <a:rPr lang="en-IN" sz="2800" dirty="0"/>
            </a:br>
            <a:r>
              <a:rPr lang="en-IN" sz="2800" dirty="0" err="1"/>
              <a:t>B.Tech</a:t>
            </a:r>
            <a:r>
              <a:rPr lang="en-IN" sz="2800" dirty="0"/>
              <a:t>, Chemical Engineering</a:t>
            </a:r>
            <a:br>
              <a:rPr lang="en-IN" sz="2800" dirty="0"/>
            </a:br>
            <a:r>
              <a:rPr lang="en-IN" sz="2800" dirty="0"/>
              <a:t>Indian Institute of Technology Kanpur</a:t>
            </a:r>
          </a:p>
        </p:txBody>
      </p:sp>
    </p:spTree>
    <p:extLst>
      <p:ext uri="{BB962C8B-B14F-4D97-AF65-F5344CB8AC3E}">
        <p14:creationId xmlns:p14="http://schemas.microsoft.com/office/powerpoint/2010/main" val="2164418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227F4-A500-BD3F-9DE0-F905FD3E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60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B6CD9-3D54-FCD9-3BB8-FEE4C3DDF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8288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• Project Objective</a:t>
            </a:r>
          </a:p>
          <a:p>
            <a:pPr marL="0" indent="0">
              <a:buNone/>
            </a:pPr>
            <a:r>
              <a:rPr lang="en-US" dirty="0"/>
              <a:t>• Company Overview</a:t>
            </a:r>
          </a:p>
          <a:p>
            <a:pPr marL="0" indent="0">
              <a:buNone/>
            </a:pPr>
            <a:r>
              <a:rPr lang="en-US" dirty="0"/>
              <a:t>• Industry Overview</a:t>
            </a:r>
          </a:p>
          <a:p>
            <a:pPr marL="0" indent="0">
              <a:buNone/>
            </a:pPr>
            <a:r>
              <a:rPr lang="en-US" dirty="0"/>
              <a:t>• Business Segment Analysis</a:t>
            </a:r>
          </a:p>
          <a:p>
            <a:pPr marL="0" indent="0">
              <a:buNone/>
            </a:pPr>
            <a:r>
              <a:rPr lang="en-US" dirty="0"/>
              <a:t>• Financial Performance</a:t>
            </a:r>
          </a:p>
          <a:p>
            <a:pPr marL="0" indent="0">
              <a:buNone/>
            </a:pPr>
            <a:r>
              <a:rPr lang="en-US" dirty="0"/>
              <a:t>• SWOT Analysis</a:t>
            </a:r>
          </a:p>
          <a:p>
            <a:pPr marL="0" indent="0">
              <a:buNone/>
            </a:pPr>
            <a:r>
              <a:rPr lang="en-US" dirty="0"/>
              <a:t>• Strategic Recommendations</a:t>
            </a:r>
          </a:p>
          <a:p>
            <a:pPr marL="0" indent="0">
              <a:buNone/>
            </a:pPr>
            <a:r>
              <a:rPr lang="en-US" dirty="0"/>
              <a:t>• Conclusion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2158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9A50C-407E-3F59-4A26-9B5802270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BBA9E-829C-503E-F410-EB8285F1F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726089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/>
              <a:t>The objective of this project is to evaluate the strategic growth potential of Reliance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/>
              <a:t>Industries Limited by analyzing its diversified business portfolio, financial performance, and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/>
              <a:t>external business environment.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dirty="0"/>
              <a:t>The study aims to: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/>
              <a:t>• </a:t>
            </a:r>
            <a:r>
              <a:rPr lang="en-US" sz="2200" b="1" dirty="0"/>
              <a:t>Understand </a:t>
            </a:r>
            <a:r>
              <a:rPr lang="en-US" sz="2200" dirty="0"/>
              <a:t>Reliance's diversified business model.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dirty="0"/>
              <a:t>• Identify</a:t>
            </a:r>
            <a:r>
              <a:rPr lang="en-US" sz="2200" dirty="0"/>
              <a:t> key growth drivers across Telecom, Retail, and Energy.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/>
              <a:t>• </a:t>
            </a:r>
            <a:r>
              <a:rPr lang="en-US" sz="2200" b="1" dirty="0"/>
              <a:t>Examine</a:t>
            </a:r>
            <a:r>
              <a:rPr lang="en-US" sz="2200" dirty="0"/>
              <a:t> the impact of macroeconomic factors on business performance.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/>
              <a:t>• </a:t>
            </a:r>
            <a:r>
              <a:rPr lang="en-US" sz="2200" b="1" dirty="0"/>
              <a:t>Recommend</a:t>
            </a:r>
            <a:r>
              <a:rPr lang="en-US" sz="2200" dirty="0"/>
              <a:t> strategic initiatives for sustainable long-term growth.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04816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7E04D-0DFF-2096-D457-3A2F90A9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Company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DEB022-2974-FAA1-878A-4974485546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7" r="-2445"/>
          <a:stretch>
            <a:fillRect/>
          </a:stretch>
        </p:blipFill>
        <p:spPr>
          <a:xfrm>
            <a:off x="0" y="1314450"/>
            <a:ext cx="2334986" cy="20165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97FB9D-F1C3-FDB5-1822-A4E5596C9130}"/>
              </a:ext>
            </a:extLst>
          </p:cNvPr>
          <p:cNvSpPr txBox="1"/>
          <p:nvPr/>
        </p:nvSpPr>
        <p:spPr>
          <a:xfrm>
            <a:off x="2090057" y="1690688"/>
            <a:ext cx="599530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dirty="0"/>
              <a:t>  </a:t>
            </a:r>
            <a:r>
              <a:rPr lang="en-IN" b="1" dirty="0"/>
              <a:t>Founded:</a:t>
            </a:r>
            <a:r>
              <a:rPr lang="en-IN" dirty="0"/>
              <a:t> 1958</a:t>
            </a:r>
          </a:p>
          <a:p>
            <a:pPr>
              <a:spcAft>
                <a:spcPts val="600"/>
              </a:spcAft>
            </a:pPr>
            <a:r>
              <a:rPr lang="en-IN" dirty="0"/>
              <a:t>  </a:t>
            </a:r>
            <a:r>
              <a:rPr lang="en-IN" b="1" dirty="0"/>
              <a:t>Founder:</a:t>
            </a:r>
            <a:r>
              <a:rPr lang="en-IN" dirty="0"/>
              <a:t> Dhirubhai Ambani</a:t>
            </a:r>
          </a:p>
          <a:p>
            <a:pPr>
              <a:spcAft>
                <a:spcPts val="600"/>
              </a:spcAft>
            </a:pPr>
            <a:r>
              <a:rPr lang="en-IN" dirty="0"/>
              <a:t>  </a:t>
            </a:r>
            <a:r>
              <a:rPr lang="en-IN" b="1" dirty="0"/>
              <a:t>Headquarters:</a:t>
            </a:r>
            <a:r>
              <a:rPr lang="en-IN" dirty="0"/>
              <a:t> Mumbai, Maharashtra, India</a:t>
            </a:r>
          </a:p>
          <a:p>
            <a:pPr>
              <a:spcAft>
                <a:spcPts val="600"/>
              </a:spcAft>
            </a:pPr>
            <a:r>
              <a:rPr lang="en-IN" dirty="0"/>
              <a:t>  </a:t>
            </a:r>
            <a:r>
              <a:rPr lang="en-IN" b="1" dirty="0"/>
              <a:t>Chairman &amp; Managing Director:</a:t>
            </a:r>
            <a:r>
              <a:rPr lang="en-IN" dirty="0"/>
              <a:t> Mukesh D. Ambani</a:t>
            </a:r>
          </a:p>
          <a:p>
            <a:pPr>
              <a:spcAft>
                <a:spcPts val="600"/>
              </a:spcAft>
            </a:pPr>
            <a:r>
              <a:rPr lang="en-IN" dirty="0"/>
              <a:t>  </a:t>
            </a:r>
            <a:r>
              <a:rPr lang="en-IN" b="1" dirty="0"/>
              <a:t>Employees:</a:t>
            </a:r>
            <a:r>
              <a:rPr lang="en-IN" dirty="0"/>
              <a:t> ~394,000</a:t>
            </a:r>
          </a:p>
          <a:p>
            <a:pPr>
              <a:spcAft>
                <a:spcPts val="600"/>
              </a:spcAft>
            </a:pPr>
            <a:r>
              <a:rPr lang="en-IN" dirty="0"/>
              <a:t>  </a:t>
            </a:r>
            <a:r>
              <a:rPr lang="en-IN" b="1" dirty="0"/>
              <a:t>Revenue (FY25): </a:t>
            </a:r>
            <a:r>
              <a:rPr lang="en-IN" dirty="0"/>
              <a:t>₹11.76 lakh crore (≈ US$124 billion)</a:t>
            </a:r>
          </a:p>
          <a:p>
            <a:pPr>
              <a:spcAft>
                <a:spcPts val="600"/>
              </a:spcAft>
            </a:pPr>
            <a:r>
              <a:rPr lang="en-IN" dirty="0"/>
              <a:t>  </a:t>
            </a:r>
            <a:r>
              <a:rPr lang="en-IN" b="1" dirty="0"/>
              <a:t>Market Capitalization: </a:t>
            </a:r>
            <a:r>
              <a:rPr lang="en-IN" dirty="0"/>
              <a:t>≈ ₹17.6 </a:t>
            </a:r>
            <a:r>
              <a:rPr lang="en-IN" dirty="0" err="1"/>
              <a:t>lakhcrore</a:t>
            </a:r>
            <a:r>
              <a:rPr lang="en-IN" dirty="0"/>
              <a:t> (≈ US$210 billion)</a:t>
            </a:r>
          </a:p>
          <a:p>
            <a:pPr>
              <a:spcAft>
                <a:spcPts val="600"/>
              </a:spcAft>
            </a:pPr>
            <a:r>
              <a:rPr lang="en-IN" dirty="0"/>
              <a:t>  </a:t>
            </a:r>
            <a:r>
              <a:rPr lang="en-IN" b="1" dirty="0"/>
              <a:t>Fortune Global 500 (2025): </a:t>
            </a:r>
            <a:r>
              <a:rPr lang="en-IN" dirty="0"/>
              <a:t>Rank 88</a:t>
            </a:r>
          </a:p>
          <a:p>
            <a:pPr>
              <a:spcAft>
                <a:spcPts val="600"/>
              </a:spcAft>
            </a:pPr>
            <a:r>
              <a:rPr lang="en-IN" dirty="0"/>
              <a:t>  </a:t>
            </a:r>
            <a:r>
              <a:rPr lang="en-IN" b="1" dirty="0"/>
              <a:t>Core Businesses</a:t>
            </a:r>
          </a:p>
          <a:p>
            <a:pPr>
              <a:spcAft>
                <a:spcPts val="600"/>
              </a:spcAft>
            </a:pPr>
            <a:r>
              <a:rPr lang="en-IN" dirty="0"/>
              <a:t>   • Oil-to-Chemicals</a:t>
            </a:r>
          </a:p>
          <a:p>
            <a:pPr>
              <a:spcAft>
                <a:spcPts val="600"/>
              </a:spcAft>
            </a:pPr>
            <a:r>
              <a:rPr lang="en-IN" dirty="0"/>
              <a:t>   • Retail</a:t>
            </a:r>
          </a:p>
          <a:p>
            <a:pPr>
              <a:spcAft>
                <a:spcPts val="600"/>
              </a:spcAft>
            </a:pPr>
            <a:r>
              <a:rPr lang="en-IN" dirty="0"/>
              <a:t>   • Jio</a:t>
            </a:r>
          </a:p>
          <a:p>
            <a:pPr>
              <a:spcAft>
                <a:spcPts val="600"/>
              </a:spcAft>
            </a:pPr>
            <a:r>
              <a:rPr lang="en-IN" dirty="0"/>
              <a:t>   • New Energy</a:t>
            </a:r>
          </a:p>
          <a:p>
            <a:pPr>
              <a:spcAft>
                <a:spcPts val="600"/>
              </a:spcAft>
            </a:pPr>
            <a:endParaRPr lang="en-IN" dirty="0"/>
          </a:p>
          <a:p>
            <a:pPr>
              <a:spcAft>
                <a:spcPts val="600"/>
              </a:spcAf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902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0CB8-C33C-9E63-83D4-2040FA95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Segment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B57DB-3164-0148-F681-DAD57DFE9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600" b="1" dirty="0"/>
              <a:t>Reliance's growth is driven by four major business segments:</a:t>
            </a:r>
            <a:endParaRPr lang="en-IN" sz="2600" dirty="0"/>
          </a:p>
          <a:p>
            <a:r>
              <a:rPr lang="en-IN" sz="2600" b="1" dirty="0"/>
              <a:t>Oil-to-Chemicals (O2C):</a:t>
            </a:r>
            <a:r>
              <a:rPr lang="en-IN" sz="2600" dirty="0"/>
              <a:t> Largest revenue contributor with integrated refining and petrochemical operations. </a:t>
            </a:r>
          </a:p>
          <a:p>
            <a:r>
              <a:rPr lang="en-IN" sz="2600" b="1" dirty="0"/>
              <a:t>Jio Platforms:</a:t>
            </a:r>
            <a:r>
              <a:rPr lang="en-IN" sz="2600" dirty="0"/>
              <a:t> India's leading telecom and digital services business, driving subscriber and data growth. </a:t>
            </a:r>
          </a:p>
          <a:p>
            <a:r>
              <a:rPr lang="en-IN" sz="2600" b="1" dirty="0"/>
              <a:t>Reliance Retail:</a:t>
            </a:r>
            <a:r>
              <a:rPr lang="en-IN" sz="2600" dirty="0"/>
              <a:t> India's largest organized retail company with strong omni-channel expansion. </a:t>
            </a:r>
          </a:p>
          <a:p>
            <a:r>
              <a:rPr lang="en-IN" sz="2600" b="1" dirty="0"/>
              <a:t>New Energy:</a:t>
            </a:r>
            <a:r>
              <a:rPr lang="en-IN" sz="2600" dirty="0"/>
              <a:t> Focused on solar, green hydrogen, batteries, and clean energy technologies. </a:t>
            </a:r>
          </a:p>
          <a:p>
            <a:pPr marL="0" indent="0">
              <a:buNone/>
            </a:pPr>
            <a:r>
              <a:rPr lang="en-IN" sz="2000" dirty="0"/>
              <a:t>Diversification across these four businesses reduces dependence on any single sector and supports sustainable long-term growth.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389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27AAD-9767-FAF1-6AFB-4609967A9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647"/>
            <a:ext cx="10515600" cy="1325563"/>
          </a:xfrm>
        </p:spPr>
        <p:txBody>
          <a:bodyPr/>
          <a:lstStyle/>
          <a:p>
            <a:r>
              <a:rPr lang="en-IN" dirty="0"/>
              <a:t>Jio Platforms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EE2EEF-5211-FE43-A690-921C5D187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57" y="1723345"/>
            <a:ext cx="2139044" cy="20655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56A9CF-E201-1AF7-921B-ABA3B3BDBFD1}"/>
              </a:ext>
            </a:extLst>
          </p:cNvPr>
          <p:cNvSpPr txBox="1"/>
          <p:nvPr/>
        </p:nvSpPr>
        <p:spPr>
          <a:xfrm>
            <a:off x="3878036" y="1723345"/>
            <a:ext cx="39515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Business Highlights</a:t>
            </a:r>
            <a:br>
              <a:rPr lang="en-IN" sz="2400" dirty="0"/>
            </a:br>
            <a:r>
              <a:rPr lang="en-IN" sz="2400" dirty="0"/>
              <a:t>• Largest telecom operator in India</a:t>
            </a:r>
            <a:br>
              <a:rPr lang="en-IN" sz="2400" dirty="0"/>
            </a:br>
            <a:r>
              <a:rPr lang="en-IN" sz="2400" dirty="0"/>
              <a:t>• 490M+ subscribers</a:t>
            </a:r>
            <a:br>
              <a:rPr lang="en-IN" sz="2400" dirty="0"/>
            </a:br>
            <a:r>
              <a:rPr lang="en-IN" sz="2400" dirty="0"/>
              <a:t>• India's largest 5G network</a:t>
            </a:r>
            <a:br>
              <a:rPr lang="en-IN" sz="2400" dirty="0"/>
            </a:br>
            <a:r>
              <a:rPr lang="en-IN" sz="2400" dirty="0"/>
              <a:t>• Digital ecosystem</a:t>
            </a:r>
            <a:br>
              <a:rPr lang="en-IN" sz="2400" dirty="0"/>
            </a:br>
            <a:br>
              <a:rPr lang="en-IN" sz="2400" dirty="0"/>
            </a:br>
            <a:r>
              <a:rPr lang="en-IN" sz="2400" b="1" dirty="0"/>
              <a:t>Strategic Assessment</a:t>
            </a:r>
            <a:br>
              <a:rPr lang="en-IN" sz="2400" dirty="0"/>
            </a:br>
            <a:r>
              <a:rPr lang="en-IN" sz="2400" dirty="0"/>
              <a:t>• Stable recurring revenue</a:t>
            </a:r>
            <a:br>
              <a:rPr lang="en-IN" sz="2400" dirty="0"/>
            </a:br>
            <a:r>
              <a:rPr lang="en-IN" sz="2400" dirty="0"/>
              <a:t>• Strengthens digital ecosystem</a:t>
            </a:r>
            <a:br>
              <a:rPr lang="en-IN" sz="2400" dirty="0"/>
            </a:br>
            <a:r>
              <a:rPr lang="en-IN" sz="2400" dirty="0"/>
              <a:t>• Supports AI &amp; cloud growth</a:t>
            </a:r>
          </a:p>
        </p:txBody>
      </p:sp>
    </p:spTree>
    <p:extLst>
      <p:ext uri="{BB962C8B-B14F-4D97-AF65-F5344CB8AC3E}">
        <p14:creationId xmlns:p14="http://schemas.microsoft.com/office/powerpoint/2010/main" val="381084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15E86-7B5D-60FB-2414-B18191462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57" y="305469"/>
            <a:ext cx="10515600" cy="1325563"/>
          </a:xfrm>
        </p:spPr>
        <p:txBody>
          <a:bodyPr/>
          <a:lstStyle/>
          <a:p>
            <a:r>
              <a:rPr lang="en-IN" b="1" dirty="0"/>
              <a:t>Reliance Retail 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8D9CAF-074D-4237-0E5A-224996F9E8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9"/>
          <a:stretch>
            <a:fillRect/>
          </a:stretch>
        </p:blipFill>
        <p:spPr>
          <a:xfrm>
            <a:off x="734786" y="1796143"/>
            <a:ext cx="3094264" cy="23764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6C3E66-EC53-A440-F517-0B15E0A5F4F0}"/>
              </a:ext>
            </a:extLst>
          </p:cNvPr>
          <p:cNvSpPr txBox="1"/>
          <p:nvPr/>
        </p:nvSpPr>
        <p:spPr>
          <a:xfrm>
            <a:off x="3937228" y="1631032"/>
            <a:ext cx="605585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Business Highlights</a:t>
            </a:r>
          </a:p>
          <a:p>
            <a:r>
              <a:rPr lang="en-IN" sz="2400" dirty="0"/>
              <a:t>• India's largest organized retailer</a:t>
            </a:r>
          </a:p>
          <a:p>
            <a:r>
              <a:rPr lang="en-IN" sz="2400" dirty="0"/>
              <a:t>• 19,300+ stores across India</a:t>
            </a:r>
          </a:p>
          <a:p>
            <a:r>
              <a:rPr lang="en-IN" sz="2400" dirty="0"/>
              <a:t>• Presence in grocery, fashion, electronics &amp; lifestyle</a:t>
            </a:r>
          </a:p>
          <a:p>
            <a:r>
              <a:rPr lang="en-IN" sz="2400" dirty="0"/>
              <a:t>• Strong omnichannel retail ecosystem</a:t>
            </a:r>
          </a:p>
          <a:p>
            <a:endParaRPr lang="en-IN" sz="2400" dirty="0"/>
          </a:p>
          <a:p>
            <a:r>
              <a:rPr lang="en-IN" sz="2400" b="1" dirty="0"/>
              <a:t>Strategic Assessment</a:t>
            </a:r>
          </a:p>
          <a:p>
            <a:r>
              <a:rPr lang="en-IN" sz="2400" dirty="0"/>
              <a:t>• Delivers stable long-term revenue growth</a:t>
            </a:r>
          </a:p>
          <a:p>
            <a:r>
              <a:rPr lang="en-IN" sz="2400" dirty="0"/>
              <a:t>• Strengthens Reliance's consumer business</a:t>
            </a:r>
          </a:p>
          <a:p>
            <a:r>
              <a:rPr lang="en-IN" sz="2400" dirty="0"/>
              <a:t>• Enhances customer reach through digital and physical stores</a:t>
            </a:r>
          </a:p>
        </p:txBody>
      </p:sp>
    </p:spTree>
    <p:extLst>
      <p:ext uri="{BB962C8B-B14F-4D97-AF65-F5344CB8AC3E}">
        <p14:creationId xmlns:p14="http://schemas.microsoft.com/office/powerpoint/2010/main" val="2552306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BC0A-4859-883D-A9BE-863E41FC6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Oil-To-Chemicals (O2C)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F15C75-0BA6-B43E-DBCB-57A68EA26F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2" y="1825625"/>
            <a:ext cx="5823984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1D2E9E-BDD6-184D-6E18-6DD2DDA45D3B}"/>
              </a:ext>
            </a:extLst>
          </p:cNvPr>
          <p:cNvSpPr txBox="1"/>
          <p:nvPr/>
        </p:nvSpPr>
        <p:spPr>
          <a:xfrm>
            <a:off x="6261946" y="1825625"/>
            <a:ext cx="49720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Business Highlights</a:t>
            </a:r>
          </a:p>
          <a:p>
            <a:r>
              <a:rPr lang="en-US" dirty="0"/>
              <a:t>• World's largest integrated refining and petrochemical business</a:t>
            </a:r>
          </a:p>
          <a:p>
            <a:r>
              <a:rPr lang="en-US" dirty="0"/>
              <a:t>• </a:t>
            </a:r>
            <a:r>
              <a:rPr lang="en-IN" dirty="0"/>
              <a:t>Jamnagar houses the world's largest refining complex</a:t>
            </a:r>
            <a:endParaRPr lang="en-US" dirty="0"/>
          </a:p>
          <a:p>
            <a:r>
              <a:rPr lang="en-US" dirty="0"/>
              <a:t>• Produces fuels, petrochemicals and specialty chemicals</a:t>
            </a:r>
          </a:p>
          <a:p>
            <a:r>
              <a:rPr lang="en-US" dirty="0"/>
              <a:t>• Major contributor to Reliance's overall revenue</a:t>
            </a:r>
          </a:p>
          <a:p>
            <a:endParaRPr lang="en-US" dirty="0"/>
          </a:p>
          <a:p>
            <a:r>
              <a:rPr lang="en-US" b="1" dirty="0"/>
              <a:t>Strategic Assessment</a:t>
            </a:r>
          </a:p>
          <a:p>
            <a:r>
              <a:rPr lang="en-US" dirty="0"/>
              <a:t>• Provides strong and stable cash flow</a:t>
            </a:r>
          </a:p>
          <a:p>
            <a:r>
              <a:rPr lang="en-US" dirty="0"/>
              <a:t>• Global-scale operations create cost advantages</a:t>
            </a:r>
          </a:p>
          <a:p>
            <a:r>
              <a:rPr lang="en-US" dirty="0"/>
              <a:t>• </a:t>
            </a:r>
            <a:r>
              <a:rPr lang="en-IN" dirty="0"/>
              <a:t>Supports investments in Digital, Retail &amp; New Energy</a:t>
            </a:r>
          </a:p>
        </p:txBody>
      </p:sp>
    </p:spTree>
    <p:extLst>
      <p:ext uri="{BB962C8B-B14F-4D97-AF65-F5344CB8AC3E}">
        <p14:creationId xmlns:p14="http://schemas.microsoft.com/office/powerpoint/2010/main" val="188124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D3E9-852C-1445-FE81-9714D4D6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New Energy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EEDE1-85C4-86FF-3687-2C2292F2A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Business Highlights</a:t>
            </a:r>
          </a:p>
          <a:p>
            <a:pPr marL="0" indent="0">
              <a:buNone/>
            </a:pPr>
            <a:r>
              <a:rPr lang="en-US" dirty="0"/>
              <a:t>• Focused on solar, green hydrogen and battery manufacturing</a:t>
            </a:r>
          </a:p>
          <a:p>
            <a:pPr marL="0" indent="0">
              <a:buNone/>
            </a:pPr>
            <a:r>
              <a:rPr lang="en-US" dirty="0"/>
              <a:t>• Investing in clean energy technologies</a:t>
            </a:r>
          </a:p>
          <a:p>
            <a:pPr marL="0" indent="0">
              <a:buNone/>
            </a:pPr>
            <a:r>
              <a:rPr lang="en-US" dirty="0"/>
              <a:t>• Supports India's energy transition</a:t>
            </a:r>
          </a:p>
          <a:p>
            <a:pPr marL="0" indent="0">
              <a:buNone/>
            </a:pPr>
            <a:r>
              <a:rPr lang="en-US" dirty="0"/>
              <a:t>• Long-term future growth business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Strategic Assessment</a:t>
            </a:r>
          </a:p>
          <a:p>
            <a:pPr marL="0" indent="0">
              <a:buNone/>
            </a:pPr>
            <a:r>
              <a:rPr lang="en-US" dirty="0"/>
              <a:t>• High-growth opportunity for Reliance</a:t>
            </a:r>
          </a:p>
          <a:p>
            <a:pPr marL="0" indent="0">
              <a:buNone/>
            </a:pPr>
            <a:r>
              <a:rPr lang="en-US" dirty="0"/>
              <a:t>• Diversifies revenue beyond oil and telecom</a:t>
            </a:r>
          </a:p>
          <a:p>
            <a:pPr marL="0" indent="0">
              <a:buNone/>
            </a:pPr>
            <a:r>
              <a:rPr lang="en-US" dirty="0"/>
              <a:t>• Positions the company for a sustainable future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0520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0B21F-8C8C-8DCC-5091-C20873085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Financial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65CDF-DED8-9EF9-475D-366AC4B44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Financial Highlights</a:t>
            </a:r>
          </a:p>
          <a:p>
            <a:pPr marL="0" indent="0">
              <a:buNone/>
            </a:pPr>
            <a:r>
              <a:rPr lang="en-US" dirty="0"/>
              <a:t>• FY25 Revenue: ₹11.76 lakh crore (≈ US$124 billion)</a:t>
            </a:r>
          </a:p>
          <a:p>
            <a:pPr marL="0" indent="0">
              <a:buNone/>
            </a:pPr>
            <a:r>
              <a:rPr lang="en-US" dirty="0"/>
              <a:t>• Market Capitalization: ≈ ₹17.6 lakh crore</a:t>
            </a:r>
          </a:p>
          <a:p>
            <a:pPr marL="0" indent="0">
              <a:buNone/>
            </a:pPr>
            <a:r>
              <a:rPr lang="en-US" dirty="0"/>
              <a:t>• Strong and consistent profitability</a:t>
            </a:r>
          </a:p>
          <a:p>
            <a:pPr marL="0" indent="0">
              <a:buNone/>
            </a:pPr>
            <a:r>
              <a:rPr lang="en-US" dirty="0"/>
              <a:t>• Healthy cash flows support expansion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Strategic Assessment</a:t>
            </a:r>
          </a:p>
          <a:p>
            <a:pPr marL="0" indent="0">
              <a:buNone/>
            </a:pPr>
            <a:r>
              <a:rPr lang="en-US" dirty="0"/>
              <a:t>• Diversified revenue streams reduce business risk</a:t>
            </a:r>
          </a:p>
          <a:p>
            <a:pPr marL="0" indent="0">
              <a:buNone/>
            </a:pPr>
            <a:r>
              <a:rPr lang="en-US" dirty="0"/>
              <a:t>• Strong financial position funds future investments</a:t>
            </a:r>
          </a:p>
          <a:p>
            <a:pPr marL="0" indent="0">
              <a:buNone/>
            </a:pPr>
            <a:r>
              <a:rPr lang="en-US" dirty="0"/>
              <a:t>• Supports growth in Retail, Digital and New Energy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8717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4E6A3-0A36-73A5-9A98-40ED16C7F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SWOT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20119-DDEE-0CEB-3D94-C420A060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6660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Strengths</a:t>
            </a:r>
          </a:p>
          <a:p>
            <a:pPr marL="0" indent="0">
              <a:buNone/>
            </a:pPr>
            <a:r>
              <a:rPr lang="en-IN" sz="2400" dirty="0"/>
              <a:t>• Diversified business portfolio</a:t>
            </a:r>
          </a:p>
          <a:p>
            <a:pPr marL="0" indent="0">
              <a:buNone/>
            </a:pPr>
            <a:r>
              <a:rPr lang="en-IN" sz="2400" dirty="0"/>
              <a:t>• Strong financial performance</a:t>
            </a:r>
          </a:p>
          <a:p>
            <a:pPr marL="0" indent="0">
              <a:buNone/>
            </a:pPr>
            <a:r>
              <a:rPr lang="en-IN" sz="2400" dirty="0"/>
              <a:t>• Market leader in multiple industries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Weaknesses</a:t>
            </a:r>
          </a:p>
          <a:p>
            <a:pPr marL="0" indent="0">
              <a:buNone/>
            </a:pPr>
            <a:r>
              <a:rPr lang="en-IN" sz="2400" dirty="0"/>
              <a:t>• Dependence on O2C profitability</a:t>
            </a:r>
          </a:p>
          <a:p>
            <a:pPr marL="0" indent="0">
              <a:buNone/>
            </a:pPr>
            <a:r>
              <a:rPr lang="en-IN" sz="2400" dirty="0"/>
              <a:t>• Capital-intensive projects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0BA062-C2F1-64A3-26A1-48D7E1A0AD85}"/>
              </a:ext>
            </a:extLst>
          </p:cNvPr>
          <p:cNvSpPr txBox="1"/>
          <p:nvPr/>
        </p:nvSpPr>
        <p:spPr>
          <a:xfrm>
            <a:off x="6245678" y="1890939"/>
            <a:ext cx="54782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Opportunities</a:t>
            </a:r>
          </a:p>
          <a:p>
            <a:r>
              <a:rPr lang="en-IN" sz="2400" dirty="0"/>
              <a:t>• Green energy expansion</a:t>
            </a:r>
          </a:p>
          <a:p>
            <a:r>
              <a:rPr lang="en-IN" sz="2400" dirty="0"/>
              <a:t>• AI and digital technologies</a:t>
            </a:r>
          </a:p>
          <a:p>
            <a:r>
              <a:rPr lang="en-IN" sz="2400" dirty="0"/>
              <a:t>• Global market growth</a:t>
            </a:r>
          </a:p>
          <a:p>
            <a:endParaRPr lang="en-IN" sz="2400" dirty="0"/>
          </a:p>
          <a:p>
            <a:r>
              <a:rPr lang="en-IN" sz="2400" b="1" dirty="0"/>
              <a:t>Threats</a:t>
            </a:r>
          </a:p>
          <a:p>
            <a:r>
              <a:rPr lang="en-IN" sz="2400" dirty="0"/>
              <a:t>• Oil price volatility</a:t>
            </a:r>
          </a:p>
          <a:p>
            <a:r>
              <a:rPr lang="en-IN" sz="2400" dirty="0"/>
              <a:t>• Intense competition</a:t>
            </a:r>
          </a:p>
          <a:p>
            <a:r>
              <a:rPr lang="en-IN" sz="2400" dirty="0"/>
              <a:t>• Regulatory and environmental changes</a:t>
            </a:r>
          </a:p>
        </p:txBody>
      </p:sp>
    </p:spTree>
    <p:extLst>
      <p:ext uri="{BB962C8B-B14F-4D97-AF65-F5344CB8AC3E}">
        <p14:creationId xmlns:p14="http://schemas.microsoft.com/office/powerpoint/2010/main" val="4272244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78F83-FD88-46A8-6E70-DFE65BF8B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9496D-A4A4-21A7-C5A2-7A4FF2B59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Strategic Recommendations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Accelerate investments in New Energy and green hydrogen.</a:t>
            </a:r>
          </a:p>
          <a:p>
            <a:pPr marL="0" indent="0">
              <a:buNone/>
            </a:pPr>
            <a:r>
              <a:rPr lang="en-US" sz="2400" dirty="0"/>
              <a:t>• Expand AI, cloud, and digital services through Jio Platforms.</a:t>
            </a:r>
          </a:p>
          <a:p>
            <a:pPr marL="0" indent="0">
              <a:buNone/>
            </a:pPr>
            <a:r>
              <a:rPr lang="en-US" sz="2400" dirty="0"/>
              <a:t>• Strengthen Reliance Retail's omni-channel presence.</a:t>
            </a:r>
          </a:p>
          <a:p>
            <a:pPr marL="0" indent="0">
              <a:buNone/>
            </a:pPr>
            <a:r>
              <a:rPr lang="en-US" sz="2400" dirty="0"/>
              <a:t>• Increase international expansion and strategic partnerships.</a:t>
            </a:r>
          </a:p>
          <a:p>
            <a:pPr marL="0" indent="0">
              <a:buNone/>
            </a:pPr>
            <a:r>
              <a:rPr lang="en-US" sz="2400" dirty="0"/>
              <a:t>• Continue reducing dependence on the O2C business by diversifying revenue sources.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71416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3CCBA-389A-8C22-B3DC-C1723D437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315C8-6D96-A2AC-AF25-1EFFB3A2F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6" y="1690688"/>
            <a:ext cx="10805160" cy="4351338"/>
          </a:xfrm>
        </p:spPr>
        <p:txBody>
          <a:bodyPr>
            <a:normAutofit fontScale="92500" lnSpcReduction="10000"/>
          </a:bodyPr>
          <a:lstStyle/>
          <a:p>
            <a:pPr marL="914400" lvl="2" indent="0">
              <a:buNone/>
            </a:pPr>
            <a:endParaRPr lang="en-US" sz="2400" dirty="0"/>
          </a:p>
          <a:p>
            <a:pPr marL="914400" lvl="2" indent="0">
              <a:buNone/>
            </a:pPr>
            <a:r>
              <a:rPr lang="en-US" sz="2500" dirty="0"/>
              <a:t>• Reliance Industries has successfully evolved into a diversified global enterprise with leadership across Oil-to-Chemicals, Retail, Digital Services, and New Energy.</a:t>
            </a:r>
          </a:p>
          <a:p>
            <a:pPr marL="914400" lvl="2" indent="0">
              <a:buNone/>
            </a:pPr>
            <a:endParaRPr lang="en-US" sz="2500" dirty="0"/>
          </a:p>
          <a:p>
            <a:pPr marL="914400" lvl="2" indent="0">
              <a:buNone/>
            </a:pPr>
            <a:r>
              <a:rPr lang="en-US" sz="2500" dirty="0"/>
              <a:t>• Its balanced business portfolio provides resilience while supporting sustainable long-term revenue growth.</a:t>
            </a:r>
          </a:p>
          <a:p>
            <a:pPr marL="914400" lvl="2" indent="0">
              <a:buNone/>
            </a:pPr>
            <a:endParaRPr lang="en-US" sz="2500" dirty="0"/>
          </a:p>
          <a:p>
            <a:pPr marL="914400" lvl="2" indent="0">
              <a:buNone/>
            </a:pPr>
            <a:r>
              <a:rPr lang="en-US" sz="2500" dirty="0"/>
              <a:t>• Strong financial performance and continuous investments in innovation position the company for future expansion.</a:t>
            </a:r>
          </a:p>
          <a:p>
            <a:pPr marL="914400" lvl="2" indent="0">
              <a:buNone/>
            </a:pPr>
            <a:endParaRPr lang="en-US" sz="2500" dirty="0"/>
          </a:p>
          <a:p>
            <a:pPr marL="914400" lvl="2" indent="0">
              <a:buNone/>
            </a:pPr>
            <a:r>
              <a:rPr lang="en-US" sz="2500" dirty="0"/>
              <a:t>• The strategic assessment indicates that Reliance is well positioned to create long-term shareholder value through diversification, digital transformation, and sustainability initiatives.</a:t>
            </a:r>
            <a:endParaRPr lang="en-IN" sz="25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84198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781</Words>
  <Application>Microsoft Office PowerPoint</Application>
  <PresentationFormat>Widescreen</PresentationFormat>
  <Paragraphs>123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Strategic Growth Assessment of Reliance Industries Limited.</vt:lpstr>
      <vt:lpstr>Agenda</vt:lpstr>
      <vt:lpstr>Project Objective</vt:lpstr>
      <vt:lpstr>Company Overview</vt:lpstr>
      <vt:lpstr>Business Segment Analysis</vt:lpstr>
      <vt:lpstr>Jio Platforms</vt:lpstr>
      <vt:lpstr>Reliance Retail  </vt:lpstr>
      <vt:lpstr>Oil-To-Chemicals (O2C)</vt:lpstr>
      <vt:lpstr>New Energy</vt:lpstr>
      <vt:lpstr>Financial Performance</vt:lpstr>
      <vt:lpstr>SWOT Analysis</vt:lpstr>
      <vt:lpstr>Strategic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CHAWAN GANGOTHRI</dc:creator>
  <cp:lastModifiedBy>CHAWAN GANGOTHRI</cp:lastModifiedBy>
  <cp:revision>2</cp:revision>
  <dcterms:created xsi:type="dcterms:W3CDTF">2026-07-03T06:59:55Z</dcterms:created>
  <dcterms:modified xsi:type="dcterms:W3CDTF">2026-07-03T12:46:42Z</dcterms:modified>
</cp:coreProperties>
</file>